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5" r:id="rId8"/>
    <p:sldId id="263" r:id="rId9"/>
    <p:sldId id="266" r:id="rId10"/>
    <p:sldId id="268" r:id="rId11"/>
    <p:sldId id="264" r:id="rId12"/>
    <p:sldId id="27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87A59-011F-429D-AB4B-DDDAF3C83AA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3807D-9E49-403F-A7A3-0E5A7DFA4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247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3807D-9E49-403F-A7A3-0E5A7DFA4C9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718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713BD-30AD-B67F-69A2-9215465C5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B22D7-4B89-9F77-EAC2-45794CB45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734E3-7DFF-68D7-9E2B-79822B6CE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F57F-350D-E533-8B83-834B697A3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3807D-9E49-403F-A7A3-0E5A7DFA4C9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2FE3-E2FD-5479-4614-8E6125AA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4554F-6645-C84F-EC15-C84F13559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46C6D-1DFB-7799-908B-88A0A815B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19739-BE20-347A-6705-DE91194B5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3807D-9E49-403F-A7A3-0E5A7DFA4C9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144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4C05-FC59-90C0-A74B-931C2A247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EBFBC-5AC0-596C-8FDC-589B24862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B277-0B91-707E-21B5-1DF79AC1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76B16-3946-41C1-D491-1F5E4F97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A8BE0-DF57-1B9B-E023-BA551B73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88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A1F7-F05A-F347-778D-CB537AB0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02A8-1F0C-ECF7-8C47-01F136FFC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5AC71-E5AC-19D2-3816-3501E68D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CAB87-64F8-76E9-55E7-6182D6BC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B6A62-90CB-852E-0E50-D744FFDB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1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874A-AF0F-7F1E-5549-ECC1C059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DB54F-BC12-7450-20F9-E18574364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F7154-58F6-2171-1A04-3BD09A5A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1360F-CECB-D87D-8847-D623F717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1A0E7-BCD4-A981-CCBF-8CDA2298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70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75F1-2057-B4E3-161C-C9ACA756C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EDDC7-67AE-0DD0-D0C1-EAD10B045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C6FA5-C641-DDB5-2402-7FBFA5F8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319D7-5885-D3F8-128F-5AC1B63D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8CAF1-545F-DE5D-68C0-630138FA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CC499-9774-DE0B-20C2-C69007FD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28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B1B5-6065-CCE0-3D49-92862AFCB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88ECE-6CD6-9C8E-7D10-4CF009EEB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DD1BA-2700-2AAF-0BD3-D2EF93A91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11884-7B98-306E-EC91-053EC64C6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C62F6-7DCE-2C6E-9D68-F15A306F3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5733D-E7EF-A45E-04C7-082A2BE8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F781C2-3CB8-6D4E-B10A-ACDCC67C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F759A-7F3D-98A6-37C3-3CC43916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90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006D-A40E-437B-9A7C-4EA57DC7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9B475E-FB92-464D-1AAC-74B9677C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91A99-59AF-B054-AD74-793D5EAA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F9DE6-C5C9-43B2-659B-8BA0E98E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28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AC2099-368D-C7CA-69CD-9314420E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B27A62-03D1-5D6D-C130-2D1567DE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E6EF0-E10D-A5E6-DC4D-D5D667CD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5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7522-E087-3EF8-995F-E62D5F9E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6B22A-FA02-5C0D-26BC-DFEBDFF40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DF7F9-789A-4730-C7F3-B0D529816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D4E7C-AF42-1003-8476-817F1509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1A082-3F1C-48A5-F4BB-0AF9AFE0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F3A21-4218-9A16-3E6D-9315D951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06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CC14-EFFF-5123-D305-34789A64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C5ED0A-B00F-810E-7D2B-2EE0C3696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B7E3C-0453-CAFA-CDCC-59EB8BBB1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06A8B-5775-CB03-99BC-A3246D11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C64A6-69C0-0CEE-F19D-BD1A1873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3BE8-F1C7-D1E6-F242-96CDB519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93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289D-A506-BBC1-5F1A-AC569A1D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9B92A-1587-D0EB-CABF-A8F9336C3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7B26A-9FB0-711B-921A-1E19243D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E0FA9-1FCE-74B7-7CDE-D63B3D50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EEA51-0272-0C78-AA7F-785A28DE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4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A6B2B-5DB4-E46D-2274-A4ECE1FB6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2438C-F98D-2F99-F329-12AF90BF2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8E7C1-9DBE-0ABB-EC22-A9E69B1F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D00F6-7E74-645B-7751-615CECA2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1969B-440E-AB7B-291C-76588B7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48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05BDB-E2A6-0121-5FB2-46AC68850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CE82E-3080-500F-08FA-9DFE18D2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1F93-A67F-D954-3101-2CFDCC704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29305-8BEF-4A13-BAC2-2BA30831C3C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45151-FCEA-4CC2-41C1-DDFF26AA2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8B04-0768-8CE5-5409-49BC57C33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AC47D-E90D-4AC6-9A1D-E5D575EA58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2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6CD94-88A8-0F01-74F9-A487E6731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485" y="1349830"/>
            <a:ext cx="8201552" cy="1284514"/>
          </a:xfrm>
        </p:spPr>
        <p:txBody>
          <a:bodyPr anchor="b">
            <a:normAutofit/>
          </a:bodyPr>
          <a:lstStyle/>
          <a:p>
            <a:r>
              <a:rPr lang="en-IN" sz="4800" dirty="0" err="1"/>
              <a:t>GatherGenie</a:t>
            </a:r>
            <a:br>
              <a:rPr lang="en-IN" sz="4800" dirty="0"/>
            </a:br>
            <a:r>
              <a:rPr lang="en-IN" sz="3000" dirty="0"/>
              <a:t>An Event Management Web Application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0F7E5-4A92-F341-BBC4-4951F18DA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485" y="2874174"/>
            <a:ext cx="8201552" cy="2312251"/>
          </a:xfrm>
        </p:spPr>
        <p:txBody>
          <a:bodyPr anchor="t">
            <a:normAutofit lnSpcReduction="10000"/>
          </a:bodyPr>
          <a:lstStyle/>
          <a:p>
            <a:r>
              <a:rPr lang="en-IN" sz="2000" b="1" dirty="0">
                <a:solidFill>
                  <a:schemeClr val="tx1">
                    <a:alpha val="70000"/>
                  </a:schemeClr>
                </a:solidFill>
              </a:rPr>
              <a:t>Aravind </a:t>
            </a:r>
            <a:r>
              <a:rPr lang="en-IN" sz="2000" b="1" dirty="0" err="1">
                <a:solidFill>
                  <a:schemeClr val="tx1">
                    <a:alpha val="70000"/>
                  </a:schemeClr>
                </a:solidFill>
              </a:rPr>
              <a:t>Ogeti</a:t>
            </a:r>
            <a:endParaRPr lang="en-IN" sz="2000" b="1" dirty="0">
              <a:solidFill>
                <a:schemeClr val="tx1">
                  <a:alpha val="70000"/>
                </a:schemeClr>
              </a:solidFill>
            </a:endParaRPr>
          </a:p>
          <a:p>
            <a:r>
              <a:rPr lang="en-IN" sz="2000" b="1" dirty="0">
                <a:solidFill>
                  <a:schemeClr val="tx1">
                    <a:alpha val="70000"/>
                  </a:schemeClr>
                </a:solidFill>
              </a:rPr>
              <a:t>Muhammed Sinan</a:t>
            </a:r>
          </a:p>
          <a:p>
            <a:r>
              <a:rPr lang="en-IN" sz="2000" b="1" dirty="0">
                <a:solidFill>
                  <a:schemeClr val="tx1">
                    <a:alpha val="70000"/>
                  </a:schemeClr>
                </a:solidFill>
              </a:rPr>
              <a:t>Mahesh D</a:t>
            </a:r>
          </a:p>
          <a:p>
            <a:r>
              <a:rPr lang="en-IN" sz="2000" b="1" dirty="0">
                <a:solidFill>
                  <a:schemeClr val="tx1">
                    <a:alpha val="70000"/>
                  </a:schemeClr>
                </a:solidFill>
              </a:rPr>
              <a:t>Venkata Sai Likhitha </a:t>
            </a:r>
            <a:r>
              <a:rPr lang="en-IN" sz="2000" b="1" dirty="0" err="1">
                <a:solidFill>
                  <a:schemeClr val="tx1">
                    <a:alpha val="70000"/>
                  </a:schemeClr>
                </a:solidFill>
              </a:rPr>
              <a:t>Bhogyam</a:t>
            </a:r>
            <a:endParaRPr lang="en-IN" sz="2000" b="1" dirty="0">
              <a:solidFill>
                <a:schemeClr val="tx1">
                  <a:alpha val="70000"/>
                </a:schemeClr>
              </a:solidFill>
            </a:endParaRPr>
          </a:p>
          <a:p>
            <a:r>
              <a:rPr lang="en-IN" sz="2000" b="1" dirty="0">
                <a:solidFill>
                  <a:schemeClr val="tx1">
                    <a:alpha val="70000"/>
                  </a:schemeClr>
                </a:solidFill>
              </a:rPr>
              <a:t>Norah Elizabeth Biju</a:t>
            </a:r>
          </a:p>
          <a:p>
            <a:r>
              <a:rPr lang="en-IN" sz="2000" b="1" dirty="0">
                <a:solidFill>
                  <a:schemeClr val="tx1">
                    <a:alpha val="70000"/>
                  </a:schemeClr>
                </a:solidFill>
              </a:rPr>
              <a:t>Iyas Kallan</a:t>
            </a:r>
          </a:p>
        </p:txBody>
      </p:sp>
    </p:spTree>
    <p:extLst>
      <p:ext uri="{BB962C8B-B14F-4D97-AF65-F5344CB8AC3E}">
        <p14:creationId xmlns:p14="http://schemas.microsoft.com/office/powerpoint/2010/main" val="331798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6A379-5AFF-0953-3CCD-A02BE2097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091" y="294538"/>
            <a:ext cx="10159459" cy="103366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88001-3A0A-503A-40C8-E9F01942E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091" y="2067824"/>
            <a:ext cx="10159459" cy="42452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In our application, we needed a reliable and automated mechanism to ensure that every code change is validated for both code quality and security before deployment. Without a proper CI/CD and </a:t>
            </a:r>
            <a:r>
              <a:rPr lang="en-US" sz="2000" dirty="0" err="1"/>
              <a:t>DevSecOps</a:t>
            </a:r>
            <a:r>
              <a:rPr lang="en-US" sz="2000" dirty="0"/>
              <a:t> pipeline, several challenges were observed:</a:t>
            </a:r>
          </a:p>
          <a:p>
            <a:pPr lvl="1"/>
            <a:r>
              <a:rPr lang="en-US" sz="1900" dirty="0"/>
              <a:t>No automated testing or validation of code changes </a:t>
            </a:r>
          </a:p>
          <a:p>
            <a:pPr lvl="1"/>
            <a:r>
              <a:rPr lang="en-US" sz="1900" dirty="0"/>
              <a:t>Security vulnerabilities in dependencies remained undetected </a:t>
            </a:r>
          </a:p>
          <a:p>
            <a:pPr lvl="1"/>
            <a:r>
              <a:rPr lang="en-US" sz="1900" dirty="0"/>
              <a:t>Manual build and deployment processes led to human errors </a:t>
            </a:r>
          </a:p>
          <a:p>
            <a:pPr lvl="1"/>
            <a:r>
              <a:rPr lang="en-US" sz="1900" dirty="0"/>
              <a:t>Lack of enforced quality gates for code standards </a:t>
            </a:r>
          </a:p>
          <a:p>
            <a:pPr lvl="1"/>
            <a:r>
              <a:rPr lang="en-US" sz="1900" dirty="0"/>
              <a:t>Bugs and issues were detected late in the development lifecycle </a:t>
            </a:r>
          </a:p>
          <a:p>
            <a:pPr marL="0" indent="0">
              <a:buNone/>
            </a:pPr>
            <a:r>
              <a:rPr lang="en-US" sz="2000" dirty="0"/>
              <a:t>These limitations increased the risk of deploying insecure and low-quality code to production, impacting application reliability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183827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30DA9-B445-6DE9-2A03-2C9AD03F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2B363-A8B4-CFD2-FC95-F0C545D0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C1F4EA-8C85-7205-25A8-8D5A8036F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672" y="224640"/>
            <a:ext cx="8160684" cy="642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4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D89B2-C3C2-ABCB-66C3-141D0A2D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9AC5C6B-2678-E48A-603A-9D400CFBC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3D90C5-4B63-A992-3CD8-42F598E35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DD32A7-012E-F3D4-E99D-C557D7823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038A5D-AD55-CD23-2E22-C9915639C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89AB38D-1E45-9118-D6E7-4AD011B1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4E551-8C66-89F8-6F01-3FDB3FEFB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DevOps Architecture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EA84887-118C-2DD9-05BC-3DBB55944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783" y="203769"/>
            <a:ext cx="5408953" cy="645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4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4D3CA-D891-D124-BB6C-957C52A3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03BF7-1403-FA03-4E84-C0442E595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 Architecture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CAFCD3-BE55-CC1A-7DE4-0E14E93EE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47088"/>
            <a:ext cx="7225748" cy="556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8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B0DD7-6FB3-4D04-E51C-D9F9489C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F858F-6AF6-B421-7C1D-EC71B254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Trigger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D79F6FF-0373-4D28-3061-D0F917B54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489" y="2054988"/>
            <a:ext cx="6495624" cy="238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1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B3C63-42F3-7B4C-F81D-F1FBB630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FF49C7B-9B53-DB97-C83E-A1267FAB3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ADB8D-2AE1-8D6E-9616-70D1670D1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42033B-E5B3-FED5-C8AA-F8A3247AC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0402C1-B0C2-6AC9-D0D3-34F1635CC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74C83CE-9900-5E62-49A3-F0C4EAEFE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D76D5-EEF0-CBBC-2E39-1C3233A5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1232220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SonaQube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A922D-7B81-E305-6F4F-2B85DEFDC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792" y="478712"/>
            <a:ext cx="6073019" cy="27480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DDD965-DD96-E058-ACAE-FC14379165E4}"/>
              </a:ext>
            </a:extLst>
          </p:cNvPr>
          <p:cNvSpPr/>
          <p:nvPr/>
        </p:nvSpPr>
        <p:spPr>
          <a:xfrm>
            <a:off x="4038604" y="3886200"/>
            <a:ext cx="6073019" cy="2209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76997B2-8EC3-1545-2DF6-C136F037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24" y="3980261"/>
            <a:ext cx="8903304" cy="195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6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3F986-CECC-696B-E4FB-96CF4837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BDFFF3-9678-3EA9-63B5-66DD30EDE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F09FEB-4EFB-3ACB-FA41-6756CFAFD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4E974F3-C29D-BB3E-51D3-6F6ACC840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B58CF5-5A77-88BF-BC0E-BB9784436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46BF20-2ACC-1D8B-4C23-7B046821E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A3FD2-ED5A-4955-EF75-93CD7B6D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Snyk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Scan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60A96-8A43-1A86-C8D4-147A95C1E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375" y="3037295"/>
            <a:ext cx="7363853" cy="3439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ED0D44-EEA3-A5E2-CA81-56F25C2B3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13" y="569329"/>
            <a:ext cx="5020376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6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2E68A-AC8A-7022-0A54-0E04EDB9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E27562D-E3A5-477C-227B-6866BDE5B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19D3E7-6414-43BF-D5E9-5051835D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FCA9B3-F893-0CEB-51B3-4301C357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8A1BFC-A135-FC23-979F-532B95738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17302D3-AEB3-51B2-7E4F-5211E3614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458DE-4277-B440-864C-0361521B7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 dispatch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3DE61-48CD-5C79-C8DC-9D6211B8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522" y="2150446"/>
            <a:ext cx="6611273" cy="1800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077C22-C172-C115-11F4-04D4DACB7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581" y="4293586"/>
            <a:ext cx="5479161" cy="202932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DE7BE4F-5B86-7F3E-8ED7-757CB6E69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172" y="245682"/>
            <a:ext cx="5133975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27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AC3E9-CE99-0498-125F-9106B9C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09D5E2-CAB1-0BF6-12AA-1D1157CC4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499C99-6C90-DA8D-E9C5-5AE30A243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9C975-1C61-9838-922D-501F0B205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D3344-4B66-4168-21B0-4EF27DD35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21DDA-710C-F430-067F-16215A0AC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FE242-19C8-608F-1F4A-753A2076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091" y="294538"/>
            <a:ext cx="10159459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Docker image and </a:t>
            </a:r>
            <a:r>
              <a:rPr lang="en-US" sz="4000" dirty="0" err="1">
                <a:solidFill>
                  <a:srgbClr val="FFFFFF"/>
                </a:solidFill>
              </a:rPr>
              <a:t>Trivy</a:t>
            </a:r>
            <a:r>
              <a:rPr lang="en-US" sz="4000" dirty="0">
                <a:solidFill>
                  <a:srgbClr val="FFFFFF"/>
                </a:solidFill>
              </a:rPr>
              <a:t> Scan</a:t>
            </a:r>
            <a:endParaRPr lang="en-IN" sz="4000"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714BE8-C2F1-25B4-67B4-13D460A77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666" y="3090565"/>
            <a:ext cx="8396668" cy="32645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2D72BF-B809-5280-E889-8E9604B48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16" y="1901024"/>
            <a:ext cx="11202963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0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22879-F88C-A781-3CD4-65FF4228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F5F27FE-F21C-C04E-E660-2A3B2F5E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1C537C-F1D3-80A4-1D19-0DE6D0FA7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CA505D-ACD2-25C6-55A0-E00C2F8AA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A6EBB1-DA9C-05FF-3BA3-5A1BF0FEA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4FA028F-FBC8-CB3A-B2E6-ED3D834D3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F6894-8118-6156-E20A-4ED6E00F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 of the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E6182-2F1D-5C02-0C02-C56A3C53F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29" y="423228"/>
            <a:ext cx="2905530" cy="6011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4F85BB-FBA0-5F42-D0B9-56FC94FF7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535" y="423227"/>
            <a:ext cx="3584734" cy="601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61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07FDB-BD53-40E4-FAB1-801CC8B22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79282-59BA-9F87-A7C0-878539D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Post Build 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36B9BC-5A75-F99D-96FE-4B81C2495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350" y="736370"/>
            <a:ext cx="3123300" cy="5385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568293-3C0C-165F-DE6B-F09259BE2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247" y="736370"/>
            <a:ext cx="2665704" cy="538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63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C0142-D6DE-D4FC-D324-E1D00E27B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37CF2-CD51-C770-A635-88B72AB2A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876" y="2677886"/>
            <a:ext cx="6596245" cy="98470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6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Widescreen</PresentationFormat>
  <Paragraphs>29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GatherGenie An Event Management Web Application</vt:lpstr>
      <vt:lpstr>Problem Statement</vt:lpstr>
      <vt:lpstr>Application Architecture</vt:lpstr>
      <vt:lpstr>DevOps Architecture</vt:lpstr>
      <vt:lpstr>CI Architecture</vt:lpstr>
      <vt:lpstr>Trigger</vt:lpstr>
      <vt:lpstr>SonaQube Scan</vt:lpstr>
      <vt:lpstr>Snyk Scan</vt:lpstr>
      <vt:lpstr>Workflow dispatch</vt:lpstr>
      <vt:lpstr>Docker image and Trivy Scan</vt:lpstr>
      <vt:lpstr>Flow of the Pipeline</vt:lpstr>
      <vt:lpstr>Post Build action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Dineshkumar(UST,IN)</dc:creator>
  <cp:lastModifiedBy>Mahesh Dineshkumar(UST,IN)</cp:lastModifiedBy>
  <cp:revision>1</cp:revision>
  <dcterms:created xsi:type="dcterms:W3CDTF">2026-04-14T04:01:53Z</dcterms:created>
  <dcterms:modified xsi:type="dcterms:W3CDTF">2026-04-14T05:25:13Z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2026-04-14T05:25:13Z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4ba60bbb-cb53-4916-9c1c-3c78df773b81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