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5" r:id="rId8"/>
    <p:sldId id="263" r:id="rId9"/>
    <p:sldId id="266" r:id="rId10"/>
    <p:sldId id="268" r:id="rId11"/>
    <p:sldId id="272" r:id="rId12"/>
    <p:sldId id="264" r:id="rId13"/>
    <p:sldId id="271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187A59-011F-429D-AB4B-DDDAF3C83AAA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C3807D-9E49-403F-A7A3-0E5A7DFA4C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6247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06CD5-47C6-8C45-97EF-8DE48FB7E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478343-58B5-68B1-7B85-FD211F31C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6A04F-0453-1157-810D-2BF4806E5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A9EE6-C0A0-97B1-4B63-2E0B77772A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8721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718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713BD-30AD-B67F-69A2-9215465C5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B22D7-4B89-9F77-EAC2-45794CB45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C734E3-7DFF-68D7-9E2B-79822B6CE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07F57F-350D-E533-8B83-834B697A36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3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C2FE3-E2FD-5479-4614-8E6125AA5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14554F-6645-C84F-EC15-C84F13559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46C6D-1DFB-7799-908B-88A0A815B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19739-BE20-347A-6705-DE91194B53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2144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F4C05-FC59-90C0-A74B-931C2A247D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EBFBC-5AC0-596C-8FDC-589B2486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B277-0B91-707E-21B5-1DF79AC19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76B16-3946-41C1-D491-1F5E4F971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A8BE0-DF57-1B9B-E023-BA551B734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288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A1F7-F05A-F347-778D-CB537AB0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02A8-1F0C-ECF7-8C47-01F136FFC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5AC71-E5AC-19D2-3816-3501E68DA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CAB87-64F8-76E9-55E7-6182D6BC7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B6A62-90CB-852E-0E50-D744FFDBF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14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9874A-AF0F-7F1E-5549-ECC1C0592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DB54F-BC12-7450-20F9-E18574364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F7154-58F6-2171-1A04-3BD09A5A3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1360F-CECB-D87D-8847-D623F717C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1A0E7-BCD4-A981-CCBF-8CDA22981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5701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75F1-2057-B4E3-161C-C9ACA756C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EDDC7-67AE-0DD0-D0C1-EAD10B0451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C6FA5-C641-DDB5-2402-7FBFA5F8E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319D7-5885-D3F8-128F-5AC1B63DC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78CAF1-545F-DE5D-68C0-630138FA7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BCC499-9774-DE0B-20C2-C69007FD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9287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B1B5-6065-CCE0-3D49-92862AFCB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088ECE-6CD6-9C8E-7D10-4CF009EEB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DDD1BA-2700-2AAF-0BD3-D2EF93A91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D11884-7B98-306E-EC91-053EC64C67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EC62F6-7DCE-2C6E-9D68-F15A306F33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85733D-E7EF-A45E-04C7-082A2BE89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F781C2-3CB8-6D4E-B10A-ACDCC67C8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5F759A-7F3D-98A6-37C3-3CC439168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7908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006D-A40E-437B-9A7C-4EA57DC7F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9B475E-FB92-464D-1AAC-74B9677C5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E91A99-59AF-B054-AD74-793D5EAA8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4F9DE6-C5C9-43B2-659B-8BA0E98EB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282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AC2099-368D-C7CA-69CD-9314420EA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B27A62-03D1-5D6D-C130-2D1567DE1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E6EF0-E10D-A5E6-DC4D-D5D667CD1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25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E7522-E087-3EF8-995F-E62D5F9EC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6B22A-FA02-5C0D-26BC-DFEBDFF40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DF7F9-789A-4730-C7F3-B0D529816D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CD4E7C-AF42-1003-8476-817F15090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1A082-3F1C-48A5-F4BB-0AF9AFE03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1F3A21-4218-9A16-3E6D-9315D951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4063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ECC14-EFFF-5123-D305-34789A64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C5ED0A-B00F-810E-7D2B-2EE0C3696D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B7E3C-0453-CAFA-CDCC-59EB8BBB1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06A8B-5775-CB03-99BC-A3246D11E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C64A6-69C0-0CEE-F19D-BD1A1873C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53BE8-F1C7-D1E6-F242-96CDB519E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0930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C289D-A506-BBC1-5F1A-AC569A1D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A9B92A-1587-D0EB-CABF-A8F9336C36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7B26A-9FB0-711B-921A-1E19243D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E0FA9-1FCE-74B7-7CDE-D63B3D509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EA51-0272-0C78-AA7F-785A28DE0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2346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8A6B2B-5DB4-E46D-2274-A4ECE1FB61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B2438C-F98D-2F99-F329-12AF90BF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8E7C1-9DBE-0ABB-EC22-A9E69B1FE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D00F6-7E74-645B-7751-615CECA24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81969B-440E-AB7B-291C-76588B762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486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05BDB-E2A6-0121-5FB2-46AC68850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5CE82E-3080-500F-08FA-9DFE18D2A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C1F93-A67F-D954-3101-2CFDCC704B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45151-FCEA-4CC2-41C1-DDFF26AA26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48B04-0768-8CE5-5409-49BC57C33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622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B84055-029C-4E86-8844-D05D96C02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2842C0-6210-4FDB-B1FF-C14C92737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037F2-4CAF-446B-90DB-1480B247A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28589C-AF3D-49CF-BD92-C1D1D2F53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95844" y="1110000"/>
            <a:ext cx="10195740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26CD94-88A8-0F01-74F9-A487E67313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1485" y="1349830"/>
            <a:ext cx="8201552" cy="1284514"/>
          </a:xfrm>
        </p:spPr>
        <p:txBody>
          <a:bodyPr anchor="b">
            <a:normAutofit/>
          </a:bodyPr>
          <a:lstStyle/>
          <a:p>
            <a:r>
              <a:rPr lang="en-IN" sz="4800" dirty="0" err="1"/>
              <a:t>GatherGenie</a:t>
            </a:r>
            <a:br>
              <a:rPr lang="en-IN" sz="4800" dirty="0"/>
            </a:br>
            <a:r>
              <a:rPr lang="en-IN" sz="3000" dirty="0"/>
              <a:t>An Event Management Web Application</a:t>
            </a:r>
            <a:endParaRPr lang="en-IN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40F7E5-4A92-F341-BBC4-4951F18DAA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1485" y="2874174"/>
            <a:ext cx="8201552" cy="2312251"/>
          </a:xfrm>
        </p:spPr>
        <p:txBody>
          <a:bodyPr anchor="t">
            <a:normAutofit lnSpcReduction="10000"/>
          </a:bodyPr>
          <a:lstStyle/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Aravind </a:t>
            </a:r>
            <a:r>
              <a:rPr lang="en-IN" sz="2000" b="1" dirty="0" err="1">
                <a:solidFill>
                  <a:schemeClr val="tx1">
                    <a:alpha val="70000"/>
                  </a:schemeClr>
                </a:solidFill>
              </a:rPr>
              <a:t>Ogeti</a:t>
            </a:r>
            <a:endParaRPr lang="en-IN" sz="2000" b="1" dirty="0">
              <a:solidFill>
                <a:schemeClr val="tx1">
                  <a:alpha val="70000"/>
                </a:schemeClr>
              </a:solidFill>
            </a:endParaRP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Muhammed Sinan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Mahesh D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Venkata Sai Likhitha </a:t>
            </a:r>
            <a:r>
              <a:rPr lang="en-IN" sz="2000" b="1" dirty="0" err="1">
                <a:solidFill>
                  <a:schemeClr val="tx1">
                    <a:alpha val="70000"/>
                  </a:schemeClr>
                </a:solidFill>
              </a:rPr>
              <a:t>Bhogyam</a:t>
            </a:r>
            <a:endParaRPr lang="en-IN" sz="2000" b="1" dirty="0">
              <a:solidFill>
                <a:schemeClr val="tx1">
                  <a:alpha val="70000"/>
                </a:schemeClr>
              </a:solidFill>
            </a:endParaRP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Norah Elizabeth Biju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Iyas Kallan</a:t>
            </a:r>
          </a:p>
        </p:txBody>
      </p:sp>
    </p:spTree>
    <p:extLst>
      <p:ext uri="{BB962C8B-B14F-4D97-AF65-F5344CB8AC3E}">
        <p14:creationId xmlns:p14="http://schemas.microsoft.com/office/powerpoint/2010/main" val="331798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56A379-5AFF-0953-3CCD-A02BE2097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091" y="294538"/>
            <a:ext cx="10159459" cy="1033669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88001-3A0A-503A-40C8-E9F01942E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8091" y="2067824"/>
            <a:ext cx="10159459" cy="424526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In our application, we needed a reliable and automated mechanism to ensure that every code change is validated for both code quality and security before deployment. Without a proper CI/CD and </a:t>
            </a:r>
            <a:r>
              <a:rPr lang="en-US" sz="2000" dirty="0" err="1"/>
              <a:t>DevSecOps</a:t>
            </a:r>
            <a:r>
              <a:rPr lang="en-US" sz="2000" dirty="0"/>
              <a:t> pipeline, several challenges were observed:</a:t>
            </a:r>
          </a:p>
          <a:p>
            <a:pPr lvl="1"/>
            <a:r>
              <a:rPr lang="en-US" sz="1900" dirty="0"/>
              <a:t>No automated testing or validation of code changes </a:t>
            </a:r>
          </a:p>
          <a:p>
            <a:pPr lvl="1"/>
            <a:r>
              <a:rPr lang="en-US" sz="1900" dirty="0"/>
              <a:t>Security vulnerabilities in dependencies remained undetected </a:t>
            </a:r>
          </a:p>
          <a:p>
            <a:pPr lvl="1"/>
            <a:r>
              <a:rPr lang="en-US" sz="1900" dirty="0"/>
              <a:t>Manual build and deployment processes led to human errors </a:t>
            </a:r>
          </a:p>
          <a:p>
            <a:pPr lvl="1"/>
            <a:r>
              <a:rPr lang="en-US" sz="1900" dirty="0"/>
              <a:t>Lack of enforced quality gates for code standards </a:t>
            </a:r>
          </a:p>
          <a:p>
            <a:pPr lvl="1"/>
            <a:r>
              <a:rPr lang="en-US" sz="1900" dirty="0"/>
              <a:t>Bugs and issues were detected late in the development lifecycle </a:t>
            </a:r>
          </a:p>
          <a:p>
            <a:pPr marL="0" indent="0">
              <a:buNone/>
            </a:pPr>
            <a:r>
              <a:rPr lang="en-US" sz="2000" dirty="0"/>
              <a:t>These limitations increased the risk of deploying insecure and low-quality code to production, impacting application reliability and security.</a:t>
            </a:r>
          </a:p>
        </p:txBody>
      </p:sp>
    </p:spTree>
    <p:extLst>
      <p:ext uri="{BB962C8B-B14F-4D97-AF65-F5344CB8AC3E}">
        <p14:creationId xmlns:p14="http://schemas.microsoft.com/office/powerpoint/2010/main" val="1838275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330DA9-B445-6DE9-2A03-2C9AD03F4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62B363-A8B4-CFD2-FC95-F0C545D03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Application Architecture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DC1F4EA-8C85-7205-25A8-8D5A8036F3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672" y="224640"/>
            <a:ext cx="8160684" cy="642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45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D89B2-C3C2-ABCB-66C3-141D0A2D7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9AC5C6B-2678-E48A-603A-9D400CFBC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3D90C5-4B63-A992-3CD8-42F598E35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2DD32A7-012E-F3D4-E99D-C557D7823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038A5D-AD55-CD23-2E22-C9915639C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89AB38D-1E45-9118-D6E7-4AD011B1D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C4E551-8C66-89F8-6F01-3FDB3FEFB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DevOps Architecture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EA84887-118C-2DD9-05BC-3DBB55944C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6783" y="203769"/>
            <a:ext cx="5408953" cy="645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240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94D3CA-D891-D124-BB6C-957C52A3B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03BF7-1403-FA03-4E84-C0442E595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CI Architecture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CAFCD3-BE55-CC1A-7DE4-0E14E93EE1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647088"/>
            <a:ext cx="7225748" cy="55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81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AB0DD7-6FB3-4D04-E51C-D9F9489CD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4F858F-6AF6-B421-7C1D-EC71B254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Trigger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9D79F6FF-0373-4D28-3061-D0F917B54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489" y="2054988"/>
            <a:ext cx="6495624" cy="23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17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EB3C63-42F3-7B4C-F81D-F1FBB630C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6FF49C7B-9B53-DB97-C83E-A1267FAB3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1ADB8D-2AE1-8D6E-9616-70D1670D1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142033B-E5B3-FED5-C8AA-F8A3247AC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10402C1-B0C2-6AC9-D0D3-34F1635CC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74C83CE-9900-5E62-49A3-F0C4EAEFE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DD76D5-EEF0-CBBC-2E39-1C3233A57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888" y="1232220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SonaQube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Scan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3A922D-7B81-E305-6F4F-2B85DEFDC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792" y="478712"/>
            <a:ext cx="6073019" cy="27480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DDD965-DD96-E058-ACAE-FC14379165E4}"/>
              </a:ext>
            </a:extLst>
          </p:cNvPr>
          <p:cNvSpPr/>
          <p:nvPr/>
        </p:nvSpPr>
        <p:spPr>
          <a:xfrm>
            <a:off x="4038604" y="3886200"/>
            <a:ext cx="6073019" cy="2209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376997B2-8EC3-1545-2DF6-C136F0371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24" y="3980261"/>
            <a:ext cx="8903304" cy="1958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69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3F986-CECC-696B-E4FB-96CF4837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BDFFF3-9678-3EA9-63B5-66DD30EDE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F09FEB-4EFB-3ACB-FA41-6756CFAFD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4E974F3-C29D-BB3E-51D3-6F6ACC840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B58CF5-5A77-88BF-BC0E-BB9784436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5C46BF20-2ACC-1D8B-4C23-7B046821E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A3FD2-ED5A-4955-EF75-93CD7B6DD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Snyk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Scan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960A96-8A43-1A86-C8D4-147A95C1E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375" y="3037295"/>
            <a:ext cx="7363853" cy="34390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ED0D44-EEA3-A5E2-CA81-56F25C2B3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113" y="569329"/>
            <a:ext cx="5020376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261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A2E68A-AC8A-7022-0A54-0E04EDB96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0E27562D-E3A5-477C-227B-6866BDE5B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19D3E7-6414-43BF-D5E9-5051835D7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2FCA9B3-F893-0CEB-51B3-4301C3574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8A1BFC-A135-FC23-979F-532B95738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17302D3-AEB3-51B2-7E4F-5211E3614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D458DE-4277-B440-864C-0361521B7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Workflow dispatch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53DE61-48CD-5C79-C8DC-9D6211B8C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522" y="2150446"/>
            <a:ext cx="6611273" cy="1800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077C22-C172-C115-11F4-04D4DACB76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581" y="4293586"/>
            <a:ext cx="5479161" cy="2029322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DE7BE4F-5B86-7F3E-8ED7-757CB6E69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1172" y="245682"/>
            <a:ext cx="5133975" cy="15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2278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AAC3E9-CE99-0498-125F-9106B9CA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E09D5E2-CAB1-0BF6-12AA-1D1157CC4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99C99-6C90-DA8D-E9C5-5AE30A243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79C975-1C61-9838-922D-501F0B205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3D3344-4B66-4168-21B0-4EF27DD35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321DDA-710C-F430-067F-16215A0AC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FE242-19C8-608F-1F4A-753A20768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091" y="294538"/>
            <a:ext cx="10159459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Docker image and </a:t>
            </a:r>
            <a:r>
              <a:rPr lang="en-US" sz="4000" dirty="0" err="1">
                <a:solidFill>
                  <a:srgbClr val="FFFFFF"/>
                </a:solidFill>
              </a:rPr>
              <a:t>Trivy</a:t>
            </a:r>
            <a:r>
              <a:rPr lang="en-US" sz="4000" dirty="0">
                <a:solidFill>
                  <a:srgbClr val="FFFFFF"/>
                </a:solidFill>
              </a:rPr>
              <a:t> Scan</a:t>
            </a:r>
            <a:endParaRPr lang="en-IN" sz="4000"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714BE8-C2F1-25B4-67B4-13D460A77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666" y="3090565"/>
            <a:ext cx="8396668" cy="326455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2D72BF-B809-5280-E889-8E9604B48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16" y="1901024"/>
            <a:ext cx="11202963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507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E934A-F18C-087F-4922-4CADF6A55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4BE24D-ACB2-E677-5A16-5BE2551F83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7" b="-1"/>
          <a:stretch>
            <a:fillRect/>
          </a:stretch>
        </p:blipFill>
        <p:spPr>
          <a:xfrm>
            <a:off x="4285984" y="422714"/>
            <a:ext cx="3532502" cy="6012571"/>
          </a:xfrm>
          <a:prstGeom prst="rect">
            <a:avLst/>
          </a:prstGeom>
        </p:spPr>
      </p:pic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32FD26B0-16CE-4AD4-9CE4-A63EBF3308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D65985-F09C-BC83-7D08-9E18EF715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792" y="2945176"/>
            <a:ext cx="2984937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Flow of the Pipeline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441BE5-4556-3E5F-3425-5B902D285D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30" r="16093" b="-2"/>
          <a:stretch>
            <a:fillRect/>
          </a:stretch>
        </p:blipFill>
        <p:spPr>
          <a:xfrm>
            <a:off x="8170666" y="422714"/>
            <a:ext cx="3606055" cy="601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62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422879-F88C-A781-3CD4-65FF4228B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2F5F27FE-F21C-C04E-E660-2A3B2F5E7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C1C537C-F1D3-80A4-1D19-0DE6D0FA7B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CA505D-ACD2-25C6-55A0-E00C2F8A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6A6EBB1-DA9C-05FF-3BA3-5A1BF0FEA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94FA028F-FBC8-CB3A-B2E6-ED3D834D30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4F6894-8118-6156-E20A-4ED6E00F3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Flow of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FE6182-2F1D-5C02-0C02-C56A3C53F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429" y="423228"/>
            <a:ext cx="2905530" cy="60111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C20E1B-8F5B-56E1-F899-A7568B90ED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340" y="1833340"/>
            <a:ext cx="2829320" cy="319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861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707FDB-BD53-40E4-FAB1-801CC8B22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08628" y="1408629"/>
            <a:ext cx="6858000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832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339A6F5-AD6A-4D80-8AD9-6290D13AC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513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61000"/>
                </a:srgbClr>
              </a:gs>
              <a:gs pos="95000">
                <a:schemeClr val="accent5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F79282-59BA-9F87-A7C0-878539DB5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2" y="2945176"/>
            <a:ext cx="2878688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Post Build 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36B9BC-5A75-F99D-96FE-4B81C2495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350" y="736370"/>
            <a:ext cx="3123300" cy="53850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568293-3C0C-165F-DE6B-F09259BE2B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247" y="736370"/>
            <a:ext cx="2665704" cy="5385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63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1C0142-D6DE-D4FC-D324-E1D00E27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737CF2-CD51-C770-A635-88B72AB2A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76" y="2677886"/>
            <a:ext cx="6596245" cy="984702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6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164</Words>
  <Application>Microsoft Office PowerPoint</Application>
  <PresentationFormat>Widescreen</PresentationFormat>
  <Paragraphs>31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GatherGenie An Event Management Web Application</vt:lpstr>
      <vt:lpstr>Problem Statement</vt:lpstr>
      <vt:lpstr>Application Architecture</vt:lpstr>
      <vt:lpstr>DevOps Architecture</vt:lpstr>
      <vt:lpstr>CI Architecture</vt:lpstr>
      <vt:lpstr>Trigger</vt:lpstr>
      <vt:lpstr>SonaQube Scan</vt:lpstr>
      <vt:lpstr>Snyk Scan</vt:lpstr>
      <vt:lpstr>Workflow dispatch</vt:lpstr>
      <vt:lpstr>Docker image and Trivy Scan</vt:lpstr>
      <vt:lpstr>Flow of the Pipeline</vt:lpstr>
      <vt:lpstr>Flow of the Pipeline</vt:lpstr>
      <vt:lpstr>Post Build action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Mahesh Dineshkumar(UST,IN)</dc:creator>
  <cp:lastModifiedBy>Mahesh Dineshkumar(UST,IN)</cp:lastModifiedBy>
  <cp:revision>2</cp:revision>
  <dcterms:created xsi:type="dcterms:W3CDTF">2026-04-14T04:01:53Z</dcterms:created>
  <dcterms:modified xsi:type="dcterms:W3CDTF">2026-04-14T05:42:14Z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ffddfa-74ad-4c1f-9757-a38a11902f1c_Enabled">
    <vt:lpwstr>true</vt:lpwstr>
  </property>
  <property fmtid="{D5CDD505-2E9C-101B-9397-08002B2CF9AE}" pid="3" name="MSIP_Label_15ffddfa-74ad-4c1f-9757-a38a11902f1c_SetDate">
    <vt:lpwstr>2026-04-14T05:25:13Z</vt:lpwstr>
  </property>
  <property fmtid="{D5CDD505-2E9C-101B-9397-08002B2CF9AE}" pid="4" name="MSIP_Label_15ffddfa-74ad-4c1f-9757-a38a11902f1c_Method">
    <vt:lpwstr>Standard</vt:lpwstr>
  </property>
  <property fmtid="{D5CDD505-2E9C-101B-9397-08002B2CF9AE}" pid="5" name="MSIP_Label_15ffddfa-74ad-4c1f-9757-a38a11902f1c_Name">
    <vt:lpwstr>UST Internal</vt:lpwstr>
  </property>
  <property fmtid="{D5CDD505-2E9C-101B-9397-08002B2CF9AE}" pid="6" name="MSIP_Label_15ffddfa-74ad-4c1f-9757-a38a11902f1c_SiteId">
    <vt:lpwstr>a4431f4b-c207-4733-9530-34c08a9b2b8d</vt:lpwstr>
  </property>
  <property fmtid="{D5CDD505-2E9C-101B-9397-08002B2CF9AE}" pid="7" name="MSIP_Label_15ffddfa-74ad-4c1f-9757-a38a11902f1c_ActionId">
    <vt:lpwstr>4ba60bbb-cb53-4916-9c1c-3c78df773b81</vt:lpwstr>
  </property>
  <property fmtid="{D5CDD505-2E9C-101B-9397-08002B2CF9AE}" pid="8" name="MSIP_Label_15ffddfa-74ad-4c1f-9757-a38a11902f1c_ContentBits">
    <vt:lpwstr>0</vt:lpwstr>
  </property>
  <property fmtid="{D5CDD505-2E9C-101B-9397-08002B2CF9AE}" pid="9" name="MSIP_Label_15ffddfa-74ad-4c1f-9757-a38a11902f1c_Tag">
    <vt:lpwstr>10, 3, 0, 1</vt:lpwstr>
  </property>
</Properties>
</file>